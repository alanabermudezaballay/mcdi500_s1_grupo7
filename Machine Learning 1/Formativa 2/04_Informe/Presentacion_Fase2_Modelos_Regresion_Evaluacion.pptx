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70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905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media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template_media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02920"/>
            <a:ext cx="5669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8448" y="612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 Online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85800" y="20574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Arial"/>
              </a:rPr>
              <a:t>MCDI504 · MACHINE LEARNING I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58368" y="2542032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3300" b="1">
                <a:solidFill>
                  <a:srgbClr val="FFFFFF"/>
                </a:solidFill>
                <a:latin typeface="Arial"/>
              </a:rPr>
              <a:t>Modelos de regresión supervisada</a:t>
            </a:r>
            <a:br/>
            <a:r>
              <a:rPr sz="3300" b="1">
                <a:solidFill>
                  <a:srgbClr val="FFFFFF"/>
                </a:solidFill>
                <a:latin typeface="Arial"/>
              </a:rPr>
              <a:t>y evaluación del desempeño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658368" y="4096512"/>
            <a:ext cx="7040880" cy="0"/>
          </a:xfrm>
          <a:prstGeom prst="line">
            <a:avLst/>
          </a:prstGeom>
          <a:noFill/>
          <a:ln w="17780">
            <a:solidFill>
              <a:srgbClr val="FFFF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685800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0">
                <a:solidFill>
                  <a:srgbClr val="FFFFFF"/>
                </a:solidFill>
                <a:latin typeface="Arial"/>
              </a:rPr>
              <a:t>Apoyo para sesión sincrónica · Fase 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 b="0">
                <a:solidFill>
                  <a:srgbClr val="FFFFFF"/>
                </a:solidFill>
                <a:latin typeface="Arial"/>
              </a:rPr>
              <a:t>Foco de estudio: variable continua, modelos, entrenamiento y métricas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Ruta de la presentación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La presentación no reemplaza la lectura: identifica los conceptos que conviene dominar antes de implementar y comparar modelos.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057400"/>
            <a:ext cx="2880360" cy="1920240"/>
          </a:xfrm>
          <a:prstGeom prst="roundRect">
            <a:avLst/>
          </a:prstGeom>
          <a:solidFill>
            <a:srgbClr val="D9EEF8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4B9DCA"/>
                </a:solidFill>
                <a:latin typeface="Arial"/>
              </a:rPr>
              <a:t>1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Fundamentos de regresión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Arial"/>
              </a:rPr>
              <a:t>Variable objetivo continua, predictores, predicción, residuo y generalización.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39" y="2999232"/>
            <a:ext cx="411481" cy="0"/>
          </a:xfrm>
          <a:prstGeom prst="line">
            <a:avLst/>
          </a:prstGeom>
          <a:ln w="19050">
            <a:solidFill>
              <a:srgbClr val="4B9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51960" y="2057400"/>
            <a:ext cx="2880360" cy="192024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73B4C"/>
                </a:solidFill>
                <a:latin typeface="Arial"/>
              </a:rPr>
              <a:t>2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Familias de modelos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Arial"/>
              </a:rPr>
              <a:t>Lineales, árboles, ensambles, SVR y redes neuronales: qué supuesto o mecanismo distingue a cada uno.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23760" y="2999232"/>
            <a:ext cx="411480" cy="0"/>
          </a:xfrm>
          <a:prstGeom prst="line">
            <a:avLst/>
          </a:prstGeom>
          <a:ln w="19050">
            <a:solidFill>
              <a:srgbClr val="B51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26679" y="2057400"/>
            <a:ext cx="2880360" cy="192024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B5122C"/>
                </a:solidFill>
                <a:latin typeface="Arial"/>
              </a:rPr>
              <a:t>3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Evaluación y generalización</a:t>
            </a:r>
          </a:p>
          <a:p>
            <a:pPr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Arial"/>
              </a:rPr>
              <a:t>División entrenamiento/prueba y lectura conjunta de MSE, RMSE y R².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4736592"/>
            <a:ext cx="1001268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30" b="0">
                <a:solidFill>
                  <a:srgbClr val="111111"/>
                </a:solidFill>
                <a:latin typeface="Arial"/>
              </a:rPr>
              <a:t>Idea clave: los modelos solo pueden compararse de forma justa si usan la misma variable objetivo, el mismo preprocesamiento y el mismo conjunto de prueba.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Cómo formular un problema de regresión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La regresión es aprendizaje supervisado: existe una salida conocida y numérica que el modelo debe estimar para observaciones nuevas.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874519"/>
            <a:ext cx="1847088" cy="2267712"/>
          </a:xfrm>
          <a:prstGeom prst="roundRect">
            <a:avLst/>
          </a:prstGeom>
          <a:solidFill>
            <a:srgbClr val="D9EEF8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73B4C"/>
                </a:solidFill>
                <a:latin typeface="Arial"/>
              </a:rPr>
              <a:t>1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Variable objetivo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y es continua: precio, demanda, tiempo, temperatura o puntaje.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70048" y="1874519"/>
            <a:ext cx="1847088" cy="22677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73B4C"/>
                </a:solidFill>
                <a:latin typeface="Arial"/>
              </a:rPr>
              <a:t>2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Predictores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X₁…Xₚ contienen información potencialmente útil para explicar o predecir 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5736" y="1874519"/>
            <a:ext cx="1847088" cy="2267712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73B4C"/>
                </a:solidFill>
                <a:latin typeface="Arial"/>
              </a:rPr>
              <a:t>3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Modelo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Aprende una función ŷ = f(X) a partir de los datos de entrenamiento.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1424" y="1874519"/>
            <a:ext cx="1847088" cy="226771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073B4C"/>
                </a:solidFill>
                <a:latin typeface="Arial"/>
              </a:rPr>
              <a:t>4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Residuo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e = y − ŷ. Resume cuánto se aleja cada predicción del valor observado.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7112" y="1874519"/>
            <a:ext cx="1847088" cy="2267712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B5122C"/>
                </a:solidFill>
                <a:latin typeface="Arial"/>
              </a:rPr>
              <a:t>5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Generalización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El desempeño relevante es el obtenido con datos que no participaron en el ajuste.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4663440"/>
            <a:ext cx="101498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80" b="1">
                <a:solidFill>
                  <a:srgbClr val="B5122C"/>
                </a:solidFill>
                <a:latin typeface="Arial"/>
              </a:rPr>
              <a:t>Pregunta guía: ¿qué número se desea predecir y qué evidencia permitirá afirmar que la predicción es útil fuera de la muestra?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Regresión lineal: tres variantes que deben distinguir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Los tres enfoques mantienen una estructura interpretable, pero cambian según el número de predictores y la forma funcional que se desea representar.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74519"/>
            <a:ext cx="3246120" cy="2542032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Regresión lineal simple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• Un predictor X.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Recta: y = β₀ + β₁X + ε.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β₁ representa el cambio esperado en y ante una unidad adicional de X.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Útil como modelo base y para interpretación directa.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3246120" cy="2542032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Regresión multivariable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• Varios predictores X₁…Xₚ.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Cada coeficiente se interpreta manteniendo constantes los demás.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Permite modelar efectos conjuntos.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Revisar multicolinealidad y selección de variables.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246120" cy="2542032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Regresión polinomial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• Incorpora X², X³ u otros términos.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Captura curvatura manteniendo linealidad en los parámetros.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El grado controla flexibilidad.</a:t>
            </a:r>
            <a:br/>
            <a:r>
              <a:rPr sz="1110">
                <a:solidFill>
                  <a:srgbClr val="111111"/>
                </a:solidFill>
                <a:latin typeface="Arial"/>
              </a:rPr>
              <a:t>• Un grado excesivo puede producir sobreajuste.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800600"/>
            <a:ext cx="100584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50" b="0">
                <a:solidFill>
                  <a:srgbClr val="111111"/>
                </a:solidFill>
                <a:latin typeface="Arial"/>
              </a:rPr>
              <a:t>Foco de lectura: supuestos, interpretación de coeficientes, residuos y equilibrio entre ajuste y generalización.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Modelos supervisados para predecir una variable continua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5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Todos los modelos de la tabla requieren una variable objetivo continua. Se diferencian por la forma de representar la relación entre X e y.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783080"/>
          <a:ext cx="1092708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971800"/>
                <a:gridCol w="2971800"/>
                <a:gridCol w="3291840"/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0800" marR="50800" marT="38100" marB="38100"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Idea central</a:t>
                      </a:r>
                    </a:p>
                  </a:txBody>
                  <a:tcPr marL="50800" marR="50800" marT="38100" marB="38100"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Puede destacar cuando…</a:t>
                      </a:r>
                    </a:p>
                  </a:txBody>
                  <a:tcPr marL="50800" marR="50800" marT="38100" marB="38100"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Cuidado principal</a:t>
                      </a:r>
                    </a:p>
                  </a:txBody>
                  <a:tcPr marL="50800" marR="50800" marT="38100" marB="38100">
                    <a:solidFill>
                      <a:srgbClr val="073B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Lineal simple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Ajusta una recta con un predictor.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La relación es aproximadamente lineal y se requiere interpretación directa.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Supuestos y posible subajuste.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Lineal múltiple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Combina varios predictores en una ecuación.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Se necesita estimar efectos conjuntos y parciales.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Multicolinealidad y variables irrelevantes.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Polinomial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Añade potencias para representar curvatura.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La relación es curva, pero de complejidad moderada.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Elegir el grado sin sobreajustar.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Árbol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Divide recursivamente el espacio y predice por hojas.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Existen umbrales, interacciones y no linealidad.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Profundidad, inestabilidad y poda.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Promedia muchos árboles diversos.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Se busca robustez y buen desempeño no lineal.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Menor interpretabilidad y mayor costo.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SVR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Ajusta una función dentro de un tubo ε y usa kernels.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La muestra es pequeña/mediana y la relación es suave o no lineal.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Escalamiento y ajuste de C, ε y γ.</a:t>
                      </a:r>
                    </a:p>
                  </a:txBody>
                  <a:tcPr marL="50800" marR="50800" marT="25400" marB="25400" anchor="ctr">
                    <a:solidFill>
                      <a:srgbClr val="F3F5F7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11111"/>
                          </a:solidFill>
                          <a:latin typeface="Arial"/>
                        </a:rPr>
                        <a:t>Red neuronal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Aprende funciones mediante capas, pesos y activaciones.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Hay relaciones complejas y suficiente información.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11111"/>
                          </a:solidFill>
                          <a:latin typeface="Arial"/>
                        </a:rPr>
                        <a:t>Sobreajuste, arquitectura y costo computacional.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60120" y="5193792"/>
            <a:ext cx="1019556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80" b="1">
                <a:solidFill>
                  <a:srgbClr val="B5122C"/>
                </a:solidFill>
                <a:latin typeface="Arial"/>
              </a:rPr>
              <a:t>Regla de estudio: ningún modelo es “mejor” en abstracto; debe evaluarse con datos de prueba y criterios coherentes con el problema.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Árbol de regresión: reglas, profundidad y poda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El árbol no ajusta una única ecuación global: divide el espacio de predictores en regiones y asigna una predicción constante a cada hoja.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47088"/>
            <a:ext cx="3154680" cy="210312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1. Partición recursiva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Explora reglas del tipo Xⱼ ≤ c y selecciona la división que reduce más la suma de errores cuadrados dentro de los nodos.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847088"/>
            <a:ext cx="3154680" cy="210312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2. Predicción por hojas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Una observación recorre las reglas hasta una hoja terminal. La salida suele ser la media de y de las observaciones contenidas en esa región.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47088"/>
            <a:ext cx="3154680" cy="210312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3. Complejidad del árbol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Poca profundidad puede subajustar; demasiada profundidad puede memorizar ruido. La pre-poda o post-poda controla la complejidad.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89120"/>
            <a:ext cx="1600200" cy="411480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20" b="1">
                <a:solidFill>
                  <a:srgbClr val="FFFFFF"/>
                </a:solidFill>
                <a:latin typeface="Arial"/>
              </a:rPr>
              <a:t>Foco de lectura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4370832"/>
            <a:ext cx="8366760" cy="5943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400" b="0">
                <a:solidFill>
                  <a:srgbClr val="111C2D"/>
                </a:solidFill>
                <a:latin typeface="Arial"/>
              </a:rPr>
              <a:t>Comprender por qué el MSE guía las divisiones, cómo la profundidad modifica el sesgo/varianza y por qué la poda puede mejorar la generalización.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Random Forest: por qué un bosque mejora un árbol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Random Forest combina diversidad y agregación: cada árbol observa una versión distinta del problema y el bosque promedia sus predicciones.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65960"/>
            <a:ext cx="2423160" cy="150876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Muestras bootstrap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Cada árbol se entrena con una muestra aleatoria con reemplazo.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2724912"/>
            <a:ext cx="594360" cy="0"/>
          </a:xfrm>
          <a:prstGeom prst="line">
            <a:avLst/>
          </a:prstGeom>
          <a:ln w="19050">
            <a:solidFill>
              <a:srgbClr val="4B9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86200" y="1965960"/>
            <a:ext cx="2423160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Variables aleatorias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En cada nodo compite solo un subconjunto de predictores.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724912"/>
            <a:ext cx="594360" cy="0"/>
          </a:xfrm>
          <a:prstGeom prst="line">
            <a:avLst/>
          </a:prstGeom>
          <a:ln w="19050">
            <a:solidFill>
              <a:srgbClr val="B51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86600" y="1965960"/>
            <a:ext cx="2423160" cy="150876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Muchos árboles</a:t>
            </a:r>
          </a:p>
          <a:p>
            <a:pPr>
              <a:spcBef>
                <a:spcPts val="0"/>
              </a:spcBef>
            </a:pPr>
            <a:r>
              <a:rPr sz="1110">
                <a:solidFill>
                  <a:srgbClr val="111111"/>
                </a:solidFill>
                <a:latin typeface="Arial"/>
              </a:rPr>
              <a:t>La diversidad reduce la correlación entre modelos individuales.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0" y="2724912"/>
            <a:ext cx="502920" cy="0"/>
          </a:xfrm>
          <a:prstGeom prst="line">
            <a:avLst/>
          </a:prstGeom>
          <a:ln w="19050">
            <a:solidFill>
              <a:srgbClr val="073B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195560" y="2157984"/>
            <a:ext cx="1005840" cy="1097280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Promedio
final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069080"/>
            <a:ext cx="3017520" cy="932688"/>
          </a:xfrm>
          <a:prstGeom prst="roundRect">
            <a:avLst/>
          </a:prstGeom>
          <a:solidFill>
            <a:srgbClr val="D9EEF8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Menor varianza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El promedio estabiliza predicciones frente a cambios en la muestra.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4069080"/>
            <a:ext cx="3017520" cy="932688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Evaluación OOB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Las observaciones no seleccionadas por cada bootstrap permiten una validación interna.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11312" y="4069080"/>
            <a:ext cx="3017520" cy="932688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Importancia de variables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Apoya la interpretación predictiva, pero no implica causalidad.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SVR: margen de tolerancia, kernels y escalamiento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8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Support Vector Regression busca una función regular que tolere errores pequeños y penalice principalmente las observaciones fuera de un margen definido.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74519"/>
            <a:ext cx="3246120" cy="242316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Tubo ε-insensible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Los errores cuyo valor absoluto es menor o igual que ε no generan pérdida. ε define cuánto error se considera tolerable.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874519"/>
            <a:ext cx="3246120" cy="24231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C y regularización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C controla cuánto se penalizan los errores que superan el margen. C alto ajusta más; C bajo privilegia una función más suave.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246120" cy="242316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Kernel y gamma</a:t>
            </a:r>
          </a:p>
          <a:p>
            <a:pPr>
              <a:spcBef>
                <a:spcPts val="0"/>
              </a:spcBef>
            </a:pPr>
            <a:r>
              <a:rPr sz="1140">
                <a:solidFill>
                  <a:srgbClr val="111111"/>
                </a:solidFill>
                <a:latin typeface="Arial"/>
              </a:rPr>
              <a:t>El kernel permite modelar no linealidad. En RBF, gamma controla el alcance de influencia: bajo = suave; alto = local y flexible.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17720"/>
            <a:ext cx="1737360" cy="411480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Condición práctica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4590288"/>
            <a:ext cx="83667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420" b="1">
                <a:solidFill>
                  <a:srgbClr val="111C2D"/>
                </a:solidFill>
                <a:latin typeface="Arial"/>
              </a:rPr>
              <a:t>Estandarizar las variables usando únicamente el conjunto de entrenamiento y aplicar la misma transformación al conjunto de prueba.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Red neuronal para regresión: qué debe comprenderse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9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Una red neuronal aproxima funciones complejas mediante capas de transformaciones. En regresión, la salida suele ser una neurona lineal que produce un valor continuo.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7" y="1965960"/>
            <a:ext cx="1417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320" b="1">
                <a:solidFill>
                  <a:srgbClr val="111C2D"/>
                </a:solidFill>
                <a:latin typeface="Arial"/>
              </a:rPr>
              <a:t>Entrada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60320"/>
            <a:ext cx="1874519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  <a:r>
              <a:rPr sz="1120" b="0">
                <a:solidFill>
                  <a:srgbClr val="111111"/>
                </a:solidFill>
                <a:latin typeface="Arial"/>
              </a:rPr>
              <a:t>Un nodo por predictor.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78608" y="3090672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6148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1965960"/>
            <a:ext cx="1417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320" b="1">
                <a:solidFill>
                  <a:srgbClr val="111C2D"/>
                </a:solidFill>
                <a:latin typeface="Arial"/>
              </a:rPr>
              <a:t>Capas ocultas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61488" y="2560320"/>
            <a:ext cx="1874519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  <a:r>
              <a:rPr sz="1120" b="0">
                <a:solidFill>
                  <a:srgbClr val="111111"/>
                </a:solidFill>
                <a:latin typeface="Arial"/>
              </a:rPr>
              <a:t>Pesos, sesgos y activaciones no lineales.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1728" y="3090672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64608" y="1965960"/>
            <a:ext cx="438912" cy="438912"/>
          </a:xfrm>
          <a:prstGeom prst="roundRect">
            <a:avLst/>
          </a:prstGeom>
          <a:solidFill>
            <a:srgbClr val="B5122C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3248" y="1965960"/>
            <a:ext cx="1417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320" b="1">
                <a:solidFill>
                  <a:srgbClr val="111C2D"/>
                </a:solidFill>
                <a:latin typeface="Arial"/>
              </a:rPr>
              <a:t>Salida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560320"/>
            <a:ext cx="1874519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  <a:r>
              <a:rPr sz="1120" b="0">
                <a:solidFill>
                  <a:srgbClr val="111111"/>
                </a:solidFill>
                <a:latin typeface="Arial"/>
              </a:rPr>
              <a:t>Una neurona lineal para estimar 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84848" y="3090672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6772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16368" y="1965960"/>
            <a:ext cx="1417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320" b="1">
                <a:solidFill>
                  <a:srgbClr val="111C2D"/>
                </a:solidFill>
                <a:latin typeface="Arial"/>
              </a:rPr>
              <a:t>Pérdida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2560320"/>
            <a:ext cx="1874519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  <a:r>
              <a:rPr sz="1120" b="0">
                <a:solidFill>
                  <a:srgbClr val="111111"/>
                </a:solidFill>
                <a:latin typeface="Arial"/>
              </a:rPr>
              <a:t>MSE u otra función cuantifica el error.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87968" y="3090672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70848" y="1965960"/>
            <a:ext cx="438912" cy="438912"/>
          </a:xfrm>
          <a:prstGeom prst="roundRect">
            <a:avLst/>
          </a:prstGeom>
          <a:solidFill>
            <a:srgbClr val="B5122C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19488" y="1965960"/>
            <a:ext cx="141732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320" b="1">
                <a:solidFill>
                  <a:srgbClr val="111C2D"/>
                </a:solidFill>
                <a:latin typeface="Arial"/>
              </a:rPr>
              <a:t>Entrenamiento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0848" y="2560320"/>
            <a:ext cx="1874519" cy="109728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  <a:r>
              <a:rPr sz="1120" b="0">
                <a:solidFill>
                  <a:srgbClr val="111111"/>
                </a:solidFill>
                <a:latin typeface="Arial"/>
              </a:rPr>
              <a:t>Backpropagation + optimizador ajustan parámetros.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160520"/>
            <a:ext cx="3200400" cy="91440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Hiperparámetros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Capas, neuronas, tasa de aprendizaje, épocas, batch y optimizador.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160520"/>
            <a:ext cx="3200400" cy="91440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Riesgo principal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Sobreajuste: pérdida de entrenamiento baja y validación que deja de mejorar.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160520"/>
            <a:ext cx="3200400" cy="91440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Controles</a:t>
            </a:r>
          </a:p>
          <a:p>
            <a:pPr>
              <a:spcBef>
                <a:spcPts val="0"/>
              </a:spcBef>
            </a:pPr>
            <a:r>
              <a:rPr sz="1080">
                <a:solidFill>
                  <a:srgbClr val="111111"/>
                </a:solidFill>
                <a:latin typeface="Arial"/>
              </a:rPr>
              <a:t>Escalamiento, regularización, early stopping y validación.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División de la base de datos: entrenamiento y prueba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10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Separar los datos evita evaluar el modelo con las mismas observaciones que utilizó para aprender. El conjunto de prueba simula datos futuros.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1920240"/>
            <a:ext cx="1417320" cy="71323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Dataset
completo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3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170432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1636776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1792224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947672" y="2788920"/>
            <a:ext cx="109728" cy="749808"/>
          </a:xfrm>
          <a:prstGeom prst="rect">
            <a:avLst/>
          </a:prstGeom>
          <a:solidFill>
            <a:srgbClr val="4B9DC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2788920"/>
            <a:ext cx="109728" cy="749808"/>
          </a:xfrm>
          <a:prstGeom prst="rect">
            <a:avLst/>
          </a:prstGeom>
          <a:solidFill>
            <a:srgbClr val="B5122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2258568" y="2788920"/>
            <a:ext cx="109728" cy="749808"/>
          </a:xfrm>
          <a:prstGeom prst="rect">
            <a:avLst/>
          </a:prstGeom>
          <a:solidFill>
            <a:srgbClr val="B5122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00" b="0">
                <a:solidFill>
                  <a:srgbClr val="111111"/>
                </a:solidFill>
                <a:latin typeface="Arial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75887"/>
            <a:ext cx="1481328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980" b="1">
                <a:solidFill>
                  <a:srgbClr val="4B9DCA"/>
                </a:solidFill>
                <a:latin typeface="Arial"/>
              </a:rPr>
              <a:t>80% entrenamiento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3675887"/>
            <a:ext cx="96012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ctr"/>
            <a:r>
              <a:rPr sz="980" b="1">
                <a:solidFill>
                  <a:srgbClr val="B5122C"/>
                </a:solidFill>
                <a:latin typeface="Arial"/>
              </a:rPr>
              <a:t>20% prueba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63240" y="2971800"/>
            <a:ext cx="868680" cy="0"/>
          </a:xfrm>
          <a:prstGeom prst="line">
            <a:avLst/>
          </a:prstGeom>
          <a:ln w="1905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41648" y="2258568"/>
            <a:ext cx="2423160" cy="146304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Conjunto de entrenamiento</a:t>
            </a:r>
          </a:p>
          <a:p>
            <a:pPr>
              <a:spcBef>
                <a:spcPts val="0"/>
              </a:spcBef>
            </a:pPr>
            <a:r>
              <a:rPr sz="1090">
                <a:solidFill>
                  <a:srgbClr val="111111"/>
                </a:solidFill>
                <a:latin typeface="Arial"/>
              </a:rPr>
              <a:t>Ajusta el modelo y cualquier transformación: imputación, selección o escalamiento.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65392" y="2971800"/>
            <a:ext cx="548640" cy="0"/>
          </a:xfrm>
          <a:prstGeom prst="line">
            <a:avLst/>
          </a:prstGeom>
          <a:ln w="1905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23760" y="2395728"/>
            <a:ext cx="1389888" cy="117043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80" b="1">
                <a:solidFill>
                  <a:srgbClr val="FFFFFF"/>
                </a:solidFill>
                <a:latin typeface="Arial"/>
              </a:rPr>
              <a:t>Modelo
entrenado
ŷ = f(X)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3675887"/>
            <a:ext cx="0" cy="402337"/>
          </a:xfrm>
          <a:prstGeom prst="line">
            <a:avLst/>
          </a:prstGeom>
          <a:ln w="19050">
            <a:solidFill>
              <a:srgbClr val="B512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92240" y="4096512"/>
            <a:ext cx="3931920" cy="932688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Conjunto de prueba</a:t>
            </a:r>
          </a:p>
          <a:p>
            <a:pPr>
              <a:spcBef>
                <a:spcPts val="0"/>
              </a:spcBef>
            </a:pPr>
            <a:r>
              <a:rPr sz="1090">
                <a:solidFill>
                  <a:srgbClr val="111111"/>
                </a:solidFill>
                <a:latin typeface="Arial"/>
              </a:rPr>
              <a:t>Se utiliza al final para estimar generalización mediante MSE, RMSE y R². No debe influir en el ajuste.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5029200"/>
            <a:ext cx="530352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10" b="1">
                <a:solidFill>
                  <a:srgbClr val="111111"/>
                </a:solidFill>
                <a:latin typeface="Arial"/>
              </a:rPr>
              <a:t>Evitar filtración de información: el escalador y cualquier decisión de preprocesamiento se aprenden solo con entrenamiento.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MSE, RMSE y R²: cómo leer las métricas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11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Las métricas resumen errores distintos. Deben calcularse sobre el mismo conjunto de prueba y leerse de manera conjunta, no como números aislados.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847088"/>
            <a:ext cx="3337560" cy="2423160"/>
          </a:xfrm>
          <a:prstGeom prst="roundRect">
            <a:avLst/>
          </a:prstGeom>
          <a:solidFill>
            <a:srgbClr val="E7F3FA"/>
          </a:solidFill>
          <a:ln w="12700">
            <a:solidFill>
              <a:srgbClr val="4B9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MSE · Error Cuadrático Medio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Arial"/>
              </a:rPr>
              <a:t>MSE = (1/n) Σ(yᵢ − ŷᵢ)²</a:t>
            </a:r>
            <a:br/>
            <a:br/>
            <a:r>
              <a:rPr sz="1100">
                <a:solidFill>
                  <a:srgbClr val="111111"/>
                </a:solidFill>
                <a:latin typeface="Arial"/>
              </a:rPr>
              <a:t>• Menor es mejor.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Penaliza con fuerza errores grandes.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Se expresa en unidades cuadradas, por lo que su lectura práctica es menos directa.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1847088"/>
            <a:ext cx="3337560" cy="24231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RMSE · Raíz del MSE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Arial"/>
              </a:rPr>
              <a:t>RMSE = √MSE</a:t>
            </a:r>
            <a:br/>
            <a:br/>
            <a:r>
              <a:rPr sz="1100">
                <a:solidFill>
                  <a:srgbClr val="111111"/>
                </a:solidFill>
                <a:latin typeface="Arial"/>
              </a:rPr>
              <a:t>• Menor es mejor.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Mantiene la penalización a errores grandes.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Se expresa en las mismas unidades de la variable objetivo y resulta más interpretable.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47088"/>
            <a:ext cx="3337560" cy="242316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09728"/>
          <a:lstStyle/>
          <a:p>
            <a:pPr algn="ctr">
              <a:spcAft>
                <a:spcPts val="700"/>
              </a:spcAft>
            </a:pPr>
            <a:r>
              <a:rPr sz="1320" b="1">
                <a:solidFill>
                  <a:srgbClr val="111C2D"/>
                </a:solidFill>
                <a:latin typeface="Arial"/>
              </a:rPr>
              <a:t>R² · Coeficiente de determinación</a:t>
            </a:r>
          </a:p>
          <a:p>
            <a:pPr>
              <a:spcBef>
                <a:spcPts val="0"/>
              </a:spcBef>
            </a:pPr>
            <a:r>
              <a:rPr sz="1100">
                <a:solidFill>
                  <a:srgbClr val="111111"/>
                </a:solidFill>
                <a:latin typeface="Arial"/>
              </a:rPr>
              <a:t>R² = 1 − SSres / SStot</a:t>
            </a:r>
            <a:br/>
            <a:br/>
            <a:r>
              <a:rPr sz="1100">
                <a:solidFill>
                  <a:srgbClr val="111111"/>
                </a:solidFill>
                <a:latin typeface="Arial"/>
              </a:rPr>
              <a:t>• Mayor suele ser mejor.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Indica variabilidad explicada respecto de predecir la media.</a:t>
            </a:r>
            <a:br/>
            <a:r>
              <a:rPr sz="1100">
                <a:solidFill>
                  <a:srgbClr val="111111"/>
                </a:solidFill>
                <a:latin typeface="Arial"/>
              </a:rPr>
              <a:t>• Puede ser negativo en prueba y no implica causalidad.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736592"/>
            <a:ext cx="101498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450" b="1">
                <a:solidFill>
                  <a:srgbClr val="B5122C"/>
                </a:solidFill>
                <a:latin typeface="Arial"/>
              </a:rPr>
              <a:t>Lectura integrada: preferir, en general, menor MSE/RMSE y mayor R², siempre verificando residuos, contexto y desempeño fuera de muestra.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Dónde focalizar la lectura y la comparación de modelos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 b="0">
                <a:solidFill>
                  <a:srgbClr val="5B6572"/>
                </a:solidFill>
                <a:latin typeface="Arial"/>
              </a:rPr>
              <a:t>Guía docente: material de apoyo para focalizar la lectura y explicar conceptos clave de la Fase 2.</a:t>
            </a: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71600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El propósito de la sesión es orientar el estudio. Los detalles matemáticos, supuestos y ejemplos deben revisarse directamente en los apuntes.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19" y="1965960"/>
            <a:ext cx="1417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80" b="1">
                <a:solidFill>
                  <a:srgbClr val="111C2D"/>
                </a:solidFill>
                <a:latin typeface="Arial"/>
              </a:rPr>
              <a:t>Problema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42032"/>
            <a:ext cx="1874519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18872" bIns="118872"/>
          <a:lstStyle/>
          <a:p>
            <a:pPr algn="l"/>
            <a:r>
              <a:rPr sz="1080" b="0">
                <a:solidFill>
                  <a:srgbClr val="111111"/>
                </a:solidFill>
                <a:latin typeface="Arial"/>
              </a:rPr>
              <a:t>Confirmar que y sea continua y que la pregunta analítica sea predictiva.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78608" y="3291840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6148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965960"/>
            <a:ext cx="1417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80" b="1">
                <a:solidFill>
                  <a:srgbClr val="111C2D"/>
                </a:solidFill>
                <a:latin typeface="Arial"/>
              </a:rPr>
              <a:t>Preprocesamiento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61488" y="2542032"/>
            <a:ext cx="1874519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18872" bIns="118872"/>
          <a:lstStyle/>
          <a:p>
            <a:pPr algn="l"/>
            <a:r>
              <a:rPr sz="1080" b="0">
                <a:solidFill>
                  <a:srgbClr val="111111"/>
                </a:solidFill>
                <a:latin typeface="Arial"/>
              </a:rPr>
              <a:t>Identificar faltantes, selección de variables, escala y riesgo de filtración.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81728" y="3291840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6460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1965960"/>
            <a:ext cx="1417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80" b="1">
                <a:solidFill>
                  <a:srgbClr val="111C2D"/>
                </a:solidFill>
                <a:latin typeface="Arial"/>
              </a:rPr>
              <a:t>Mecanismo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542032"/>
            <a:ext cx="1874519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18872" bIns="118872"/>
          <a:lstStyle/>
          <a:p>
            <a:pPr algn="l"/>
            <a:r>
              <a:rPr sz="1080" b="0">
                <a:solidFill>
                  <a:srgbClr val="111111"/>
                </a:solidFill>
                <a:latin typeface="Arial"/>
              </a:rPr>
              <a:t>Explicar qué aprende cada modelo y qué hiperparámetros controlan su complejidad.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84848" y="3291840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67728" y="1965960"/>
            <a:ext cx="438912" cy="438912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1965960"/>
            <a:ext cx="1417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80" b="1">
                <a:solidFill>
                  <a:srgbClr val="111C2D"/>
                </a:solidFill>
                <a:latin typeface="Arial"/>
              </a:rPr>
              <a:t>Generalización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2542032"/>
            <a:ext cx="1874519" cy="1508760"/>
          </a:xfrm>
          <a:prstGeom prst="roundRect">
            <a:avLst/>
          </a:prstGeom>
          <a:solidFill>
            <a:srgbClr val="F3F5F7"/>
          </a:solidFill>
          <a:ln w="12700">
            <a:solidFill>
              <a:srgbClr val="E4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18872" bIns="118872"/>
          <a:lstStyle/>
          <a:p>
            <a:pPr algn="l"/>
            <a:r>
              <a:rPr sz="1080" b="0">
                <a:solidFill>
                  <a:srgbClr val="111111"/>
                </a:solidFill>
                <a:latin typeface="Arial"/>
              </a:rPr>
              <a:t>Distinguir error de entrenamiento, validación y prueba; reconocer sobreajuste.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87968" y="3291840"/>
            <a:ext cx="164592" cy="0"/>
          </a:xfrm>
          <a:prstGeom prst="line">
            <a:avLst/>
          </a:prstGeom>
          <a:ln w="15240">
            <a:solidFill>
              <a:srgbClr val="5B65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070848" y="1965960"/>
            <a:ext cx="438912" cy="438912"/>
          </a:xfrm>
          <a:prstGeom prst="roundRect">
            <a:avLst/>
          </a:prstGeom>
          <a:solidFill>
            <a:srgbClr val="B5122C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0" y="1965960"/>
            <a:ext cx="141732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80" b="1">
                <a:solidFill>
                  <a:srgbClr val="111C2D"/>
                </a:solidFill>
                <a:latin typeface="Arial"/>
              </a:rPr>
              <a:t>Decisión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0848" y="2542032"/>
            <a:ext cx="1874519" cy="1508760"/>
          </a:xfrm>
          <a:prstGeom prst="roundRect">
            <a:avLst/>
          </a:prstGeom>
          <a:solidFill>
            <a:srgbClr val="F9E6EA"/>
          </a:solidFill>
          <a:ln w="12700">
            <a:solidFill>
              <a:srgbClr val="B51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118872" bIns="118872"/>
          <a:lstStyle/>
          <a:p>
            <a:pPr algn="l"/>
            <a:r>
              <a:rPr sz="1080" b="0">
                <a:solidFill>
                  <a:srgbClr val="111111"/>
                </a:solidFill>
                <a:latin typeface="Arial"/>
              </a:rPr>
              <a:t>Comparar métricas, interpretabilidad, estabilidad y costo; no existe ganador universal.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617720"/>
            <a:ext cx="1554480" cy="420624"/>
          </a:xfrm>
          <a:prstGeom prst="roundRect">
            <a:avLst/>
          </a:prstGeom>
          <a:solidFill>
            <a:srgbClr val="073B4C"/>
          </a:solidFill>
          <a:ln w="12700">
            <a:solidFill>
              <a:srgbClr val="07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Mensaje final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88920" y="4572000"/>
            <a:ext cx="832104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410" b="1">
                <a:solidFill>
                  <a:srgbClr val="B5122C"/>
                </a:solidFill>
                <a:latin typeface="Arial"/>
              </a:rPr>
              <a:t>La implementación debe poder justificarse: por qué se eligió el modelo, cómo se evitó el sobreajuste y qué evidencia demuestra su utilidad.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42976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Magíster en Ciencia de Datos e Inteligencia Artificial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2468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MCDI504 · Machine Learning 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500" b="1">
                <a:solidFill>
                  <a:srgbClr val="B5122C"/>
                </a:solidFill>
                <a:latin typeface="Arial"/>
              </a:rPr>
              <a:t>Fuentes base para la lectura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243584"/>
            <a:ext cx="112014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502920" y="6291072"/>
            <a:ext cx="448056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8" name="Image 0" descr="/mnt/data/template_media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6108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59552" y="60624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B6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0" y="6291072"/>
            <a:ext cx="4663440" cy="0"/>
          </a:xfrm>
          <a:prstGeom prst="line">
            <a:avLst/>
          </a:prstGeom>
          <a:noFill/>
          <a:ln w="11430">
            <a:solidFill>
              <a:srgbClr val="073B4C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11841480" y="164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0">
                <a:solidFill>
                  <a:srgbClr val="5B6572"/>
                </a:solidFill>
                <a:latin typeface="Arial"/>
              </a:rPr>
              <a:t>13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649224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3" name="Rectangle 12"/>
          <p:cNvSpPr/>
          <p:nvPr/>
        </p:nvSpPr>
        <p:spPr>
          <a:xfrm>
            <a:off x="594360" y="1389888"/>
            <a:ext cx="1083564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510" b="0">
                <a:solidFill>
                  <a:srgbClr val="111C2D"/>
                </a:solidFill>
                <a:latin typeface="Arial"/>
              </a:rPr>
              <a:t>Material docente utilizado como base conceptual de esta presentación: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847088"/>
            <a:ext cx="10607040" cy="3218688"/>
          </a:xfrm>
          <a:prstGeom prst="rect">
            <a:avLst/>
          </a:prstGeom>
          <a:noFill/>
        </p:spPr>
        <p:txBody>
          <a:bodyPr wrap="square" lIns="137160" rIns="137160" tIns="91440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Regresión lineal simple, polinomial y multivariable [Apunte]. Universidad Andrés Bello.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Regresión con árboles de decisión [Apunte]. Universidad Andrés Bello.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Regresión con Random Forest [Apunte]. Universidad Andrés Bello.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Regresión con máquinas de soporte vectorial (SVR) [Apunte]. Universidad Andrés Bello.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Regresión con redes neuronales artificiales [Apunte]. Universidad Andrés Bello.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11111"/>
                </a:solidFill>
                <a:latin typeface="Arial"/>
              </a:rPr>
              <a:t>• Ruete, D. (2026). Evaluación de modelos de regresión [Apunte]. Universidad Andrés Bello.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956048"/>
            <a:ext cx="10287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/>
            <a:r>
              <a:rPr sz="1380" b="1">
                <a:solidFill>
                  <a:srgbClr val="B5122C"/>
                </a:solidFill>
                <a:latin typeface="Arial"/>
              </a:rPr>
              <a:t>La presentación destaca focos de estudio; la lectura completa de los seis apuntes sigue siendo necesaria para dominar definiciones, supuestos y casos aplicados.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1770</Words>
  <Application>Microsoft Office PowerPoint</Application>
  <PresentationFormat>Panorámica</PresentationFormat>
  <Paragraphs>277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Andrés Bello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KDD, tipos de Machine Learning y modelos clásicos</dc:title>
  <dc:subject>MCDI504 Machine Learning I</dc:subject>
  <dc:creator>OpenAI</dc:creator>
  <cp:lastModifiedBy>David Alfredo Ruete Zuñiga</cp:lastModifiedBy>
  <cp:revision>2</cp:revision>
  <dcterms:created xsi:type="dcterms:W3CDTF">2026-08-03T18:49:12Z</dcterms:created>
  <dcterms:modified xsi:type="dcterms:W3CDTF">2026-08-03T18:58:40Z</dcterms:modified>
</cp:coreProperties>
</file>